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2C5F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5E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Rating</c:v>
                </c:pt>
              </c:strCache>
            </c:strRef>
          </c:tx>
          <c:spPr>
            <a:solidFill>
              <a:srgbClr val="2C5F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Gloves</c:v>
                  </c:pt>
                  <c:pt idx="1">
                    <c:v>Sandals</c:v>
                  </c:pt>
                  <c:pt idx="2">
                    <c:v>Boots</c:v>
                  </c:pt>
                  <c:pt idx="3">
                    <c:v>Hat</c:v>
                  </c:pt>
                  <c:pt idx="4">
                    <c:v>Skirt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3.6"/>
        </c:scaling>
        <c:delete val="0"/>
        <c:axPos val="b"/>
        <c:majorGridlines>
          <c:spPr>
            <a:ln w="12700" cap="flat">
              <a:solidFill>
                <a:srgbClr val="E1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Spend</c:v>
                </c:pt>
              </c:strCache>
            </c:strRef>
          </c:tx>
          <c:spPr>
            <a:solidFill>
              <a:srgbClr val="2C5F9E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Express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58.46</c:v>
                </c:pt>
                <c:pt idx="1">
                  <c:v>60.48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0"/>
        </c:scaling>
        <c:delete val="0"/>
        <c:axPos val="l"/>
        <c:majorGridlines>
          <c:spPr>
            <a:ln w="12700" cap="flat">
              <a:solidFill>
                <a:srgbClr val="E1E5E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D3E0"/>
              </a:solidFill>
              <a:effectLst/>
            </c:spPr>
          </c:dPt>
          <c:dPt>
            <c:idx val="1"/>
            <c:bubble3D val="0"/>
            <c:spPr>
              <a:solidFill>
                <a:srgbClr val="2C5F9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Non-subscribers ($170,436)</c:v>
                </c:pt>
                <c:pt idx="1">
                  <c:v>Subscribers ($62,645)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170436</c:v>
                </c:pt>
                <c:pt idx="1">
                  <c:v>62645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C5F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Loyal</c:v>
                  </c:pt>
                  <c:pt idx="1">
                    <c:v>Returning</c:v>
                  </c:pt>
                  <c:pt idx="2">
                    <c:v>New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2C5F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0000"/>
        </c:scaling>
        <c:delete val="0"/>
        <c:axPos val="b"/>
        <c:majorGridlines>
          <c:spPr>
            <a:ln w="12700" cap="flat">
              <a:solidFill>
                <a:srgbClr val="E1E5E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Shopping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D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cleaning  ·  SQL analysis  ·  Power BI dashboard  ·  Business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Suvam Priyaranjan Sahoo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project analyzes 3,900 customer shopping transactions to uncover patterns in spending, product preferences, and subscription behavior — then translates those patterns into concrete business recommendations.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86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3,900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Transactions analyzed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3749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3886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fields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3749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886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5216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questions answered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3749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3886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50392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categories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Workflow: Business Problem → Python EDA → SQL → Power BI → Report → Presentation → GitHub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 &amp; Data Preparation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3,900 rows × 18 columns of retail transaction data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demographics: age, gender, location, subscription status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Purchase details: item, category, amount, season, size, color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37 missing Review Rating values, imputed by category median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Preparation Steps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0" y="187452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Standardized column names to snake_case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Engineered age_group and purchase_frequency_days features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Dropped promo_code_used after confirming redundancy with discount_applied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Loaded cleaned data into PostgreSQL for SQL analysis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FINDING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by Gender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201168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Male customers generate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2651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2.1×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772400" y="3611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revenue of female customers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($157,890 vs. $75,191)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FINDING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 Products by Rating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0607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FINDING 03 &amp;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Shipping &amp; Subscription Behavior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Avg. Spend by Shipping Type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Share by Subscription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035040" y="187452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080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Non-subscribers spend marginally more on average ($59.87 vs. $59.49)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FINDING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Segmentation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201168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2286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80%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772400" y="3246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customers are classified as Loyal — only 2% are New, pointing to strong retention after a customer's first purchase.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FINDING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by Age Group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0607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is fairly evenly spread across age groups, with Young Adult contributing the most.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Interactive Dashboard — Power BI</a:t>
            </a:r>
            <a:endParaRPr lang="en-US" sz="2800" dirty="0"/>
          </a:p>
        </p:txBody>
      </p:sp>
      <p:pic>
        <p:nvPicPr>
          <p:cNvPr id="4" name="Image 0" descr="assets/dashboard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508760"/>
            <a:ext cx="8686800" cy="4882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16642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0" y="166420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Subscribers don't yet outspend non-subscribers — exclusive perks could change that.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8892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37360" y="28986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 Retention Pipeline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289864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2% of customers are New; understand what drives early conversion to Returning/Loyal.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37360" y="41330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Discount Policy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413308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Hat, Sneakers, and Coat rely on discounts for ~half their sales — watch margin impact.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5780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53675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Young Adults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536752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highest revenue-contributing age group for focused campaigns.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D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Suvam Priyaranjan Sahoo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github.com/suvampriyaranjansahoo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2026-07-26T21:15:04Z</dcterms:created>
  <dcterms:modified xsi:type="dcterms:W3CDTF">2026-07-26T21:15:04Z</dcterms:modified>
</cp:coreProperties>
</file>